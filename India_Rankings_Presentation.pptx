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ON THE GLOBAL STAGE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Comparison: UPA Era (Manmohan Singh, 2004–2014) vs NDA Era (Narendra Modi, 2014–2026)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HDI · Poverty · Unemployment · Corruption · Terrorism · Press Freedom · Pollution · Passport Power · Rupee vs USD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UNDP · World Bank · Transparency International · IEP · RSF · IQAir · Henley &amp; Partners · RBI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13258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verified data sources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97680" y="1371600"/>
            <a:ext cx="457200" cy="457200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92040" y="13258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Development Index (UNDP)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457200" cy="457200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41080" y="13258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&amp; Unemployment (World Bank / ILO)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28803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Corruption Perceptions Index (Transparency International)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2926080"/>
            <a:ext cx="457200" cy="457200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92040" y="28803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Terrorism &amp; Press Freedom (IEP / RSF)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0" y="2926080"/>
            <a:ext cx="457200" cy="457200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41080" y="28803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 — PM2.5 (IQAir)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480560"/>
            <a:ext cx="457200" cy="457200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443484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 Power (Henley Index)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97680" y="4480560"/>
            <a:ext cx="457200" cy="457200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25" name="Text 23"/>
          <p:cNvSpPr/>
          <p:nvPr/>
        </p:nvSpPr>
        <p:spPr>
          <a:xfrm>
            <a:off x="429768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92040" y="443484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Rupee vs Dollar (RBI)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046720" y="4480560"/>
            <a:ext cx="457200" cy="457200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9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41080" y="443484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scorecard &amp; key takeaways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Verified Global Sources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493776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Publisher (world-recognized)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Development Index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UNDP — Human Development Report Office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Poverty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World Bank — Poverty &amp; Inequality Platform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Unemployment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ILO Modelled Estimates / World Bank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Corruption Perceptions Index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Transparency International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Terrorism Index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Institute for Economics &amp; Peace (IEP)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 Freedom Index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Reporters Without Borders (RSF)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 Quality (PM2.5)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IQAir World Air Quality Report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Passport Power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Henley &amp; Partners (IATA data)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INR vs USD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 Bank of India (RBI)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Development Index Rank (lower = better)</a:t>
            </a:r>
            <a:endParaRPr lang="en-US" sz="2600" dirty="0"/>
          </a:p>
        </p:txBody>
      </p:sp>
      <p:pic>
        <p:nvPicPr>
          <p:cNvPr id="3" name="Image 0" descr="charts/01_hdi_ra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51560"/>
            <a:ext cx="10332720" cy="4937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</a:rPr>
              <a:t>Source: UNDP Human Development Report — rank out of 189–193 countries.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Poverty Rate (%)</a:t>
            </a:r>
            <a:endParaRPr lang="en-US" sz="2600" dirty="0"/>
          </a:p>
        </p:txBody>
      </p:sp>
      <p:pic>
        <p:nvPicPr>
          <p:cNvPr id="3" name="Image 0" descr="charts/02_pover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51560"/>
            <a:ext cx="10332720" cy="4937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</a:rPr>
              <a:t>Source: World Bank Poverty &amp; Inequality Platform — % of population below poverty line.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Unemployment Rate (%)</a:t>
            </a:r>
            <a:endParaRPr lang="en-US" sz="2600" dirty="0"/>
          </a:p>
        </p:txBody>
      </p:sp>
      <p:pic>
        <p:nvPicPr>
          <p:cNvPr id="3" name="Image 0" descr="charts/03_unemploy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51560"/>
            <a:ext cx="10332720" cy="4937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</a:rPr>
              <a:t>Source: ILO Modelled Estimates / World Bank. Spike in 2020 reflects COVID-19 lockdowns.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Corruption Perceptions Index Score (higher = cleaner)</a:t>
            </a:r>
            <a:endParaRPr lang="en-US" sz="2600" dirty="0"/>
          </a:p>
        </p:txBody>
      </p:sp>
      <p:pic>
        <p:nvPicPr>
          <p:cNvPr id="3" name="Image 0" descr="charts/04_corrup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51560"/>
            <a:ext cx="10332720" cy="4937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</a:rPr>
              <a:t>Source: Transparency International. Scale: 0-10 till 2011, 0-100 from 2012.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Terrorism Index Score (lower = safer)</a:t>
            </a:r>
            <a:endParaRPr lang="en-US" sz="2600" dirty="0"/>
          </a:p>
        </p:txBody>
      </p:sp>
      <p:pic>
        <p:nvPicPr>
          <p:cNvPr id="3" name="Image 0" descr="charts/08_terrori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51560"/>
            <a:ext cx="10332720" cy="4937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</a:rPr>
              <a:t>Source: Institute for Economics &amp; Peace. Index began publication in 2012.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PM2.5 Pollution (µg/m³)</a:t>
            </a:r>
            <a:endParaRPr lang="en-US" sz="2600" dirty="0"/>
          </a:p>
        </p:txBody>
      </p:sp>
      <p:pic>
        <p:nvPicPr>
          <p:cNvPr id="3" name="Image 0" descr="charts/07_poll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51560"/>
            <a:ext cx="10332720" cy="4937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</a:rPr>
              <a:t>Source: IQAir World Air Quality Report. WHO safe limit: 5 µg/m³.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Indian Passport World Rank (lower = better)</a:t>
            </a:r>
            <a:endParaRPr lang="en-US" sz="2600" dirty="0"/>
          </a:p>
        </p:txBody>
      </p:sp>
      <p:pic>
        <p:nvPicPr>
          <p:cNvPr id="3" name="Image 0" descr="charts/05_pass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51560"/>
            <a:ext cx="10332720" cy="4937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</a:rPr>
              <a:t>Source: Henley Passport Index (Henley &amp; Partners, based on IATA data).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Rupee vs US Dollar (Annual Average)</a:t>
            </a:r>
            <a:endParaRPr lang="en-US" sz="2600" dirty="0"/>
          </a:p>
        </p:txBody>
      </p:sp>
      <p:pic>
        <p:nvPicPr>
          <p:cNvPr id="3" name="Image 0" descr="charts/06_inr_us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51560"/>
            <a:ext cx="10332720" cy="4937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</a:rPr>
              <a:t>Source: Reserve Bank of India (RBI). Depreciation reflects global &amp; domestic macro factors, not government policy alone.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Scorecard — Era Averages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10698480" cy="4206240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56616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UPA Avg (2004-13)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NDA Avg (2014-26)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HDI Rank (↓ better)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Poverty Rate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Unemployment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Corruption (CPI score, ↑ better)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~32 (rescaled)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Passport Rank (↓ better)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INR per USD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56692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Note: figures are descriptive averages, not causal attributions to either government — many indices reflect global, methodological, and structural factors beyond any single administration's control.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rate has fallen sharply across both eras, with the steepest declines reflected in newer World Bank nowcasts.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rose post-2018 (PLFS methodology change) and spiked during COVID-19 (2020-21).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Corruption Perceptions Index score improved on the rescaled 0-100 metric, though India's rank still sits in the bottom half globally.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Rupee depreciated from ~₹45/USD (2004) to ~₹86/USD (2026) — a long-term trend common to most emerging-market currencies, not unique to either era.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passport rank has fluctuated between 71st (best, 2006) and 90th (worst, 2021, COVID era) — broadly stable, not a one-directional trend.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HDI rank has been fairly stable (119th-136th) due to frequent UNDP methodology revisions — direct year-to-year comparison needs caution.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dataset, SQL database, Python analysis &amp; Excel workbook available in the project repository.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8D8"/>
                </a:solidFill>
              </a:rPr>
              <a:t>Prepared as a Data Analyst / Data Scientist portfolio project ·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 Global Rankings: UPA vs NDA</dc:title>
  <dc:subject>PptxGenJS Presentation</dc:subject>
  <dc:creator>Data Analyst Portfolio</dc:creator>
  <cp:lastModifiedBy>Data Analyst Portfolio</cp:lastModifiedBy>
  <cp:revision>1</cp:revision>
  <dcterms:created xsi:type="dcterms:W3CDTF">2026-06-26T18:13:52Z</dcterms:created>
  <dcterms:modified xsi:type="dcterms:W3CDTF">2026-06-26T18:13:52Z</dcterms:modified>
</cp:coreProperties>
</file>